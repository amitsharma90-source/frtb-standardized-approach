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8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7724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DB4CC"/>
                </a:solidFill>
                <a:latin typeface="Calibri"/>
              </a:rPr>
              <a:t>FRTB  ·  DEFAULT RISK CHARGE  ·  SECURITISATION (NON-CTP)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Default Risk Capital for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Securitisation 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418965"/>
            <a:ext cx="20116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FD8E2"/>
                </a:solidFill>
                <a:latin typeface="Calibri"/>
              </a:rPr>
              <a:t>From holdings and model-priced market value to a single, auditable bucket-level charge — MAR22.33–35 wrapping the banking-book securitisation framework (CRE40–45).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10451592" cy="713232"/>
          </a:xfrm>
          <a:prstGeom prst="rect">
            <a:avLst/>
          </a:prstGeom>
          <a:solidFill>
            <a:srgbClr val="16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5605272"/>
            <a:ext cx="233857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$27.4m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943600"/>
            <a:ext cx="233857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DB4CC"/>
                </a:solidFill>
                <a:latin typeface="Calibri"/>
              </a:rPr>
              <a:t>Total securitisation DRC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2746" y="5605272"/>
            <a:ext cx="233857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2746" y="5943600"/>
            <a:ext cx="233857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DB4CC"/>
                </a:solidFill>
                <a:latin typeface="Calibri"/>
              </a:rPr>
              <a:t>positions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5228" y="565099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5644" y="5605272"/>
            <a:ext cx="233857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5943600"/>
            <a:ext cx="233857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DB4CC"/>
                </a:solidFill>
                <a:latin typeface="Calibri"/>
              </a:rPr>
              <a:t>netted tranches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8126" y="565099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08542" y="5605272"/>
            <a:ext cx="233857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8542" y="5943600"/>
            <a:ext cx="233857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DB4CC"/>
                </a:solidFill>
                <a:latin typeface="Calibri"/>
              </a:rPr>
              <a:t>(class × region) buckets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1024" y="565099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640080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7E97B0"/>
                </a:solidFill>
                <a:latin typeface="Calibri"/>
              </a:rPr>
              <a:t>Market Risk — FRTB Programme   ·   Reference portfolio v5   ·   All figures computed by the live DRC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Quantify default risk on the securitisation trading book as one auditable capital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Default Risk Charge (DRC) captures the loss if a securitisation issuer or tranche </a:t>
            </a:r>
            <a:r>
              <a:rPr sz="1250" b="1" i="0">
                <a:solidFill>
                  <a:srgbClr val="0E2C4B"/>
                </a:solidFill>
                <a:latin typeface="Calibri"/>
              </a:rPr>
              <a:t>jumps to default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— the discrete, gap risk that the sensitivities-based method (delta/vega/curvature) does not measure.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50545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432304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2C4B"/>
                </a:solidFill>
                <a:latin typeface="Calibri"/>
              </a:rPr>
              <a:t>Scope.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24 securitisation positions across 10 deals and 6 asset classes; non-CTP only (correlation trading is out of scope for v1).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25526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3182112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2C4B"/>
                </a:solidFill>
                <a:latin typeface="Calibri"/>
              </a:rPr>
              <a:t>Method.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Import banking-book risk weights (CRE40–45), fix maturity at 1 year (MAR22.34(1)), then aggregate net jump-to-default per bucket with a hedge-benefit ratio.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00507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93192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2C4B"/>
                </a:solidFill>
                <a:latin typeface="Calibri"/>
              </a:rPr>
              <a:t>Output.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One charge per (asset class × region) bucket; the portfolio total is the simple sum — no cross-bucket diversification (MAR22.35).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517904"/>
            <a:ext cx="4297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1517904"/>
            <a:ext cx="42976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1682496"/>
            <a:ext cx="40050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C2453C"/>
                </a:solidFill>
                <a:latin typeface="Calibri"/>
              </a:rPr>
              <a:t>$27.4m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2157984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Calibri"/>
              </a:rPr>
              <a:t>Securitisation DRC (this deck)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224" y="2432304"/>
            <a:ext cx="4005072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A6A6A"/>
                </a:solidFill>
                <a:latin typeface="Calibri"/>
              </a:rPr>
              <a:t>MAR22.35 — sum across 6 buckets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852928"/>
            <a:ext cx="20574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20" y="2852928"/>
            <a:ext cx="205740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7224" y="3017520"/>
            <a:ext cx="1764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E2C4B"/>
                </a:solidFill>
                <a:latin typeface="Calibri"/>
              </a:rPr>
              <a:t>$341.0m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3493008"/>
            <a:ext cx="17647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Calibri"/>
              </a:rPr>
              <a:t>Gross book MV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3675888"/>
            <a:ext cx="1764792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A6A6A"/>
                </a:solidFill>
                <a:latin typeface="Calibri"/>
              </a:rPr>
              <a:t>basis for JTD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852928"/>
            <a:ext cx="20574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0" y="2852928"/>
            <a:ext cx="205740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47504" y="3017520"/>
            <a:ext cx="1764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355574"/>
                </a:solidFill>
                <a:latin typeface="Calibri"/>
              </a:rPr>
              <a:t>8.0%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3493008"/>
            <a:ext cx="17647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A1A"/>
                </a:solidFill>
                <a:latin typeface="Calibri"/>
              </a:rPr>
              <a:t>Capital intensity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3675888"/>
            <a:ext cx="1764792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A6A6A"/>
                </a:solidFill>
                <a:latin typeface="Calibri"/>
              </a:rPr>
              <a:t>DRC ÷ gross MV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On a $341m securitisation book, default risk draws $27.4m of capital — and the calculation hinges on three things most desks get wrong: the maturity split, the 8% factor, and the hedge-benefit ratio.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FRTB DRC securitisation engine — v5 reference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drc_main.py::run_full_drc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drc_total_capital.xlsx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THE BOOK  · 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24 securitisation positions span six asset classes — and the market value comes from the model, not the 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1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Securitisation holdings inventory (model-priced MV, $m)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7370064" cy="468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L/S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MV 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A–D 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Seniority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Sub-type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RMBS-2023-1-A (Senior)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15–100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RMBS-2023-1-M (Mezz)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22.0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5–15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RMBS-2023-1-B (Short Mezz)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53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C2453C"/>
                          </a:solidFill>
                          <a:latin typeface="Calibri"/>
                        </a:rPr>
                        <a:t>-3.7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5–15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RMBS-2023-1-A (Senior) [hedge]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53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C2453C"/>
                          </a:solidFill>
                          <a:latin typeface="Calibri"/>
                        </a:rPr>
                        <a:t>-3.9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15–100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RMBS-2023-1-M (Mezz) [hedge]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53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C2453C"/>
                          </a:solidFill>
                          <a:latin typeface="Calibri"/>
                        </a:rPr>
                        <a:t>-1.1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5–15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CMBS-2024-RE1-A1 (Senior)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CMBS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25–100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CMBS-2024-RE1-A2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CMBS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20–25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CMBS-2024-RE1-B 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CMBS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10–20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CMBS-2025-NEW-A (Senior)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CMBS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53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C2453C"/>
                          </a:solidFill>
                          <a:latin typeface="Calibri"/>
                        </a:rPr>
                        <a:t>-0.9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25–100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CLO-2023-LVG-A (Senior)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CLO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30–100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CLO-2023-LVG-B (Mezz)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CLO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15–30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CLO-2023-LVG-C (Mezz)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CLO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18.8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15–30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CLO-2025-NEW-A (Senior)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CLO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53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C2453C"/>
                          </a:solidFill>
                          <a:latin typeface="Calibri"/>
                        </a:rPr>
                        <a:t>-14.8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30–100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ABCP MultiSeller 2025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ABCP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0–100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ABCP-MS-2025 Liquidity Facility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ABCP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45.1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0–100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Liquidity Facility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CC-ABS-2024-A (Senior)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ABS-CreditCard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12–100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CC-ABS-2024-B (Mezz)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ABS-CreditCard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6–12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CC-ABS-2024-C (Junior)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ABS-CreditCard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0–6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Junior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CC-ABS-2024-A (Senior) [hedge]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ABS-CreditCard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53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C2453C"/>
                          </a:solidFill>
                          <a:latin typeface="Calibri"/>
                        </a:rPr>
                        <a:t>-15.0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12–100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AUTO-2024-1-A (Senior)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ABS-Auto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53.1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15–100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AUTO-2024-1-B (Short Mezz)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ABS-Auto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53C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C2453C"/>
                          </a:solidFill>
                          <a:latin typeface="Calibri"/>
                        </a:rPr>
                        <a:t>-7.8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5–15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NPL-RMBS-2024-1-A (Senior)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20–100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CC-NPL-2024-1-A (Senior)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ABS-CreditCard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25–100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CC-NPL-2024-1-B (Mezz)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ABS-CreditCard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5B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10–25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75320" y="1591056"/>
            <a:ext cx="3337560" cy="23317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75320" y="1591056"/>
            <a:ext cx="333756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75564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TWO INPUT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048256"/>
            <a:ext cx="2971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1   Holdings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Portfolio_v5 — issuer, A/D, pool ID, seniority, rating, maturity.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2   Sensitivities sheet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FRTB_Sensitivities.xlsx → Portfolio_MV_Decomposed — the model-priced, signed MV that DRC uses as gross JTD (MAR22.27).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A6A6A"/>
                </a:solidFill>
                <a:latin typeface="Calibri"/>
              </a:rPr>
              <a:t>The book MV column is deliberately ignored — pricing is model-consistent and lives upstream.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4114800"/>
            <a:ext cx="33375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422452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Book MV  ≠  model 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535424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A1A1A"/>
                </a:solidFill>
                <a:latin typeface="Calibri"/>
              </a:rPr>
              <a:t>AUTO-2024-1-A  </a:t>
            </a:r>
            <a:r>
              <a:rPr sz="900" b="0" i="0">
                <a:solidFill>
                  <a:srgbClr val="6A6A6A"/>
                </a:solidFill>
                <a:latin typeface="Calibri"/>
              </a:rPr>
              <a:t>$80.2m</a:t>
            </a:r>
            <a:r>
              <a:rPr sz="900" b="0" i="0">
                <a:solidFill>
                  <a:srgbClr val="D9D4CA"/>
                </a:solidFill>
                <a:latin typeface="Calibri"/>
              </a:rPr>
              <a:t>  →  </a:t>
            </a:r>
            <a:r>
              <a:rPr sz="900" b="1" i="0">
                <a:solidFill>
                  <a:srgbClr val="C2453C"/>
                </a:solidFill>
                <a:latin typeface="Calibri"/>
              </a:rPr>
              <a:t>$53.1m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86460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A1A1A"/>
                </a:solidFill>
                <a:latin typeface="Calibri"/>
              </a:rPr>
              <a:t>RMBS-2023-1-A  </a:t>
            </a:r>
            <a:r>
              <a:rPr sz="900" b="0" i="0">
                <a:solidFill>
                  <a:srgbClr val="6A6A6A"/>
                </a:solidFill>
                <a:latin typeface="Calibri"/>
              </a:rPr>
              <a:t>$4.8m</a:t>
            </a:r>
            <a:r>
              <a:rPr sz="900" b="0" i="0">
                <a:solidFill>
                  <a:srgbClr val="D9D4CA"/>
                </a:solidFill>
                <a:latin typeface="Calibri"/>
              </a:rPr>
              <a:t>  →  </a:t>
            </a:r>
            <a:r>
              <a:rPr sz="900" b="1" i="0">
                <a:solidFill>
                  <a:srgbClr val="C2453C"/>
                </a:solidFill>
                <a:latin typeface="Calibri"/>
              </a:rPr>
              <a:t>$3.9m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19379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A1A1A"/>
                </a:solidFill>
                <a:latin typeface="Calibri"/>
              </a:rPr>
              <a:t>ABCP CP  </a:t>
            </a:r>
            <a:r>
              <a:rPr sz="900" b="0" i="0">
                <a:solidFill>
                  <a:srgbClr val="6A6A6A"/>
                </a:solidFill>
                <a:latin typeface="Calibri"/>
              </a:rPr>
              <a:t>$30.0m</a:t>
            </a:r>
            <a:r>
              <a:rPr sz="900" b="0" i="0">
                <a:solidFill>
                  <a:srgbClr val="D9D4CA"/>
                </a:solidFill>
                <a:latin typeface="Calibri"/>
              </a:rPr>
              <a:t>  →  </a:t>
            </a:r>
            <a:r>
              <a:rPr sz="900" b="1" i="0">
                <a:solidFill>
                  <a:srgbClr val="C2453C"/>
                </a:solidFill>
                <a:latin typeface="Calibri"/>
              </a:rPr>
              <a:t>$30.0m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FRTB DRC securitisation engine — v5 reference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drc_securitisation/sec_loader.py::build_sec_loader_frame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drc_sec_phase1_load.xlsx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DEAL MASTER  · 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Ten deals carry the pool parameters that drive every risk weight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2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Deal_Master — pool-level inputs to the SEC risk-weight formulas (W, K, granularity)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415860"/>
              </p:ext>
            </p:extLst>
          </p:nvPr>
        </p:nvGraphicFramePr>
        <p:xfrm>
          <a:off x="566928" y="1609344"/>
          <a:ext cx="7854696" cy="3470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Pool ID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Pool type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K₀ IRB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K₀ SA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LGD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 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STC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RMBS-2023-1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RMBS_prime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3.0y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Orig.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CMBS-2024-RE1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CMBS_conduit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6.4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4.5y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Inv.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CMBS-2025-NEW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CMBS_conduit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6.4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4.5y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2453C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Inv.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CLO-2023-LVG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CLO_BSL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4.5y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Inv.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CLO-2025-NEW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CLO_BSL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4.5y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Inv.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ABCP-MS-2025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ABCP_receivables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1.0y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Inv.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CC-ABS-2024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ABS_CreditCard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3.0y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Orig.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AUTO-2024-1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ABS_Auto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2.5y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E7D5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Inv.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NPL-RMBS-2024-1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RMBS_subprime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C2453C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4.0y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6A6A6A"/>
                          </a:solidFill>
                          <a:latin typeface="Calibri"/>
                        </a:rPr>
                        <a:t>Inv.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CC-NPL-2024-1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55574"/>
                          </a:solidFill>
                          <a:latin typeface="Calibri"/>
                        </a:rPr>
                        <a:t>ABS_CreditCard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C2453C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3.0y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E7D5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6A6A6A"/>
                          </a:solidFill>
                          <a:latin typeface="Calibri"/>
                        </a:rPr>
                        <a:t>Orig.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4132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READING THE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87568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W  </a:t>
            </a:r>
            <a:r>
              <a:rPr sz="900" b="0" i="0">
                <a:solidFill>
                  <a:srgbClr val="6A6A6A"/>
                </a:solidFill>
                <a:latin typeface="Calibri"/>
              </a:rPr>
              <a:t>share of pool 90+ days delinquent — ≥90% flags an NPL deal (CRE45.1)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1159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K₀  </a:t>
            </a:r>
            <a:r>
              <a:rPr sz="900" b="0" i="0">
                <a:solidFill>
                  <a:srgbClr val="6A6A6A"/>
                </a:solidFill>
                <a:latin typeface="Calibri"/>
              </a:rPr>
              <a:t>banking-book capital requirement on the pool (IRB / SA) — feeds SSFA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35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55574"/>
                </a:solidFill>
                <a:latin typeface="Calibri"/>
              </a:rPr>
              <a:t>N  </a:t>
            </a:r>
            <a:r>
              <a:rPr sz="900" b="0" i="0">
                <a:solidFill>
                  <a:srgbClr val="6A6A6A"/>
                </a:solidFill>
                <a:latin typeface="Calibri"/>
              </a:rPr>
              <a:t>effective number of exposures — pool granularity for the SEC-IRBA p-factor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59652"/>
            <a:ext cx="1105783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dirty="0">
                <a:solidFill>
                  <a:srgbClr val="355574"/>
                </a:solidFill>
                <a:latin typeface="Calibri"/>
              </a:rPr>
              <a:t>M  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pinned to 1y</a:t>
            </a:r>
            <a:r>
              <a:rPr lang="en-GB" sz="900" b="0" i="0" dirty="0">
                <a:solidFill>
                  <a:srgbClr val="6A6A6A"/>
                </a:solidFill>
                <a:latin typeface="Calibri"/>
              </a:rPr>
              <a:t> for RW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FRTB_Sec_Config.xlsx :: Deal_Master (seeded from investor reports)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build_sec_config.py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FRTB_Sec_Config.xlsx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THE TRAP  · 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Two maturity rules act on every tranche — confuse them and you double-count or under-charge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33101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3310128" cy="4572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RULE 1 — RISK-WEIGHT MATURITY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48256"/>
            <a:ext cx="294436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Fixed at </a:t>
            </a:r>
            <a:r>
              <a:rPr sz="1300" b="1" i="0">
                <a:solidFill>
                  <a:srgbClr val="0E2C4B"/>
                </a:solidFill>
                <a:latin typeface="Calibri"/>
              </a:rPr>
              <a:t>M = 1 year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 for every tranche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MAR22.34(1) pins the RW formula to the 1-year column. Multi-year migration risk is deliberately left to CSR-Sec — counting it here too would double-charge.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1376" y="1481328"/>
            <a:ext cx="33101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51376" y="1481328"/>
            <a:ext cx="3310128" cy="4572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51376" y="148132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RULE 2 — JTD SCALING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048256"/>
            <a:ext cx="294436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Actual maturity, </a:t>
            </a:r>
            <a:r>
              <a:rPr sz="1300" b="1" i="0">
                <a:solidFill>
                  <a:srgbClr val="C2453C"/>
                </a:solidFill>
                <a:latin typeface="Calibri"/>
              </a:rPr>
              <a:t>clipped to [0.25, 1.0]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MAR22.30/22.16-17 scales gross JTD down only for positions with under a year to run. A 6-month position is halved; 3 months or less floors at 0.25×.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371600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3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Rule 2 — the JTD scaling factor</a:t>
            </a:r>
          </a:p>
        </p:txBody>
      </p:sp>
      <p:pic>
        <p:nvPicPr>
          <p:cNvPr id="14" name="Picture 13" descr="ma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1627632"/>
            <a:ext cx="4297680" cy="224244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6928" y="3611880"/>
            <a:ext cx="11057839" cy="713232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611880"/>
            <a:ext cx="82296" cy="71323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611880"/>
            <a:ext cx="1060063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Default risk = 1-year default risk (Rule 1). The extra capital a 5-year AAA senior should carry over a 1-year one does not live in DRC — it lives in CSR-Sec, via longer-tenor credit-spread sensitivity. Two rules, two jobs, no overlap.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2628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E2C4B"/>
                </a:solidFill>
                <a:latin typeface="Calibri"/>
              </a:rPr>
              <a:t>WHERE RULE 2 BITES IN THIS 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0060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Only one of 24 positions is under a year: ABCP CP (ID 46), 0.65y → scaled ×0.65. Every other position runs ≥1y, so its gross JTD passes through unscaled.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690872"/>
            <a:ext cx="3429000" cy="868680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4690872"/>
            <a:ext cx="3429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E7D5B"/>
                </a:solidFill>
                <a:latin typeface="Calibri"/>
              </a:rPr>
              <a:t>Further reading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1A1A1A"/>
                </a:solidFill>
                <a:latin typeface="Calibri"/>
              </a:rPr>
              <a:t>“Two Maturity Rules for Securitisations” — methodology note + LinkedIn post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MAR22.34(1) RW maturity; MAR22.30/22.16-17 JTD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sec_loader.py (M_T_for_drc, mat_scaling_factor)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drc_sec_phase5_gross_scaled_jtd.xlsx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GROSS JTD  · 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Gross JTD is simply market value — scaled down only for sub-1-year positions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1057839" cy="8686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6304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Gross JTD  =  signed market value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DB4CC"/>
                </a:solidFill>
                <a:latin typeface="Calibri"/>
              </a:rPr>
              <a:t>MAR22.27 — LGD is already inside the SEC risk weight, so it is NOT re-applied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463040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Maturity-scaled JTD  =  MV × clip(M, 0.25, 1.0)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DB4CC"/>
                </a:solidFill>
                <a:latin typeface="Calibri"/>
              </a:rPr>
              <a:t>MAR22.30 — the only place a position's real tenor enters DRC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9818" y="1572768"/>
            <a:ext cx="12700" cy="640080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542032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453C"/>
                </a:solidFill>
                <a:latin typeface="Calibri"/>
              </a:rPr>
              <a:t>Why no LGD × notional?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For non-securitisations gross JTD = LGD × notional + P&amp;L. For securitisations the loss-given-default is already calibrated into the CRE40–45 risk weights, so applying it again would double-count. JTD = MV.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4612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4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Gross → maturity-scaled JTD, selected positions ($m)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511296"/>
          <a:ext cx="845820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MV (gross JTD) 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 (yrs)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Scale ×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Maturity-scaled JTD $m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A6A6A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ABCP MultiSeller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29.97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2453C"/>
                          </a:solidFill>
                          <a:latin typeface="Calibri"/>
                        </a:rPr>
                        <a:t>0.649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E2C4B"/>
                          </a:solidFill>
                          <a:latin typeface="Calibri"/>
                        </a:rPr>
                        <a:t>19.45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A6A6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AUTO-2024-1-A (Senior)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53.12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3.40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E2C4B"/>
                          </a:solidFill>
                          <a:latin typeface="Calibri"/>
                        </a:rPr>
                        <a:t>53.12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A6A6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CMBS-2024-RE1-B 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11.32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8.40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E2C4B"/>
                          </a:solidFill>
                          <a:latin typeface="Calibri"/>
                        </a:rPr>
                        <a:t>11.32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A6A6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CLO-2023-LVG-C (Mezz)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18.83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4.69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E2C4B"/>
                          </a:solidFill>
                          <a:latin typeface="Calibri"/>
                        </a:rPr>
                        <a:t>18.83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6A6A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RMBS-2023-1-B (Short Mezz)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C2453C"/>
                          </a:solidFill>
                          <a:latin typeface="Calibri"/>
                        </a:rPr>
                        <a:t>-3.67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2.90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C2453C"/>
                          </a:solidFill>
                          <a:latin typeface="Calibri"/>
                        </a:rPr>
                        <a:t>-3.67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9217152" y="3511296"/>
            <a:ext cx="2423160" cy="187451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17152" y="3511296"/>
            <a:ext cx="64008" cy="1874519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00032" y="3639312"/>
            <a:ext cx="2103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WORKED — ID 46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C4B"/>
                </a:solidFill>
                <a:latin typeface="Calibri"/>
              </a:rPr>
              <a:t>$30.0m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× 0.649 (M = 0.65y)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453C"/>
                </a:solidFill>
                <a:latin typeface="Calibri"/>
              </a:rPr>
              <a:t>= $19.4m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A6A6A"/>
                </a:solidFill>
                <a:latin typeface="Calibri"/>
              </a:rPr>
              <a:t>The only scaled position in the book.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Gross JTD totals the book's market value; maturity scaling touches just one position. The heavy lifting is still ahead — netting, risk weights, and the HBR.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FRTB DRC securitisation engine — v5 reference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sec_engine.py::step_9a_gross_maturity_scaled_jtd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drc_sec_phase5_gross_scaled_jtd.xlsx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NET JTD  · 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Long and short net only within an identical tranche — same pool, attachment, detachment and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THE NETTING KEY  </a:t>
            </a:r>
            <a:r>
              <a:rPr sz="1000" b="0" i="1">
                <a:solidFill>
                  <a:srgbClr val="6A6A6A"/>
                </a:solidFill>
                <a:latin typeface="Calibri"/>
              </a:rPr>
              <a:t>positions collapse to one row only when all four fields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73936"/>
            <a:ext cx="2148840" cy="384048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739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Pool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5768" y="1773936"/>
            <a:ext cx="3474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2453C"/>
                </a:solidFill>
                <a:latin typeface="Calibr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773936"/>
            <a:ext cx="2148840" cy="384048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7739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Attachment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73936"/>
            <a:ext cx="3474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2453C"/>
                </a:solidFill>
                <a:latin typeface="Calibr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9552" y="1773936"/>
            <a:ext cx="2148840" cy="384048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17739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Detachment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1773936"/>
            <a:ext cx="3474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2453C"/>
                </a:solidFill>
                <a:latin typeface="Calibri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773936"/>
            <a:ext cx="2148840" cy="384048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5864" y="177393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Position sub-type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46888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5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Netting outcomes in the v5 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43200"/>
            <a:ext cx="3611880" cy="1828800"/>
          </a:xfrm>
          <a:prstGeom prst="rect">
            <a:avLst/>
          </a:prstGeom>
          <a:solidFill>
            <a:srgbClr val="E7F0EC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2743200"/>
            <a:ext cx="3611880" cy="640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889504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5B"/>
                </a:solidFill>
                <a:latin typeface="Calibri"/>
              </a:rPr>
              <a:t>PERFECT HEDGE →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36976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RMBS-2023-1 senior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ID 37 long + ID 68 short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+$3.9m  −$3.9m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114800"/>
            <a:ext cx="3246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11480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7D5B"/>
                </a:solidFill>
                <a:latin typeface="Calibri"/>
              </a:rPr>
              <a:t>Net JTD = $0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2" y="2743200"/>
            <a:ext cx="3611880" cy="1828800"/>
          </a:xfrm>
          <a:prstGeom prst="rect">
            <a:avLst/>
          </a:prstGeom>
          <a:solidFill>
            <a:srgbClr val="E7F0EC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16552" y="2743200"/>
            <a:ext cx="3611880" cy="640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9432" y="2889504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5B"/>
                </a:solidFill>
                <a:latin typeface="Calibri"/>
              </a:rPr>
              <a:t>PERFECT HEDGE →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236976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CC-ABS-2024 senior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ID 47 long + ID 72 short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+$15.0m  −$15.0m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4114800"/>
            <a:ext cx="3246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2" y="411480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7D5B"/>
                </a:solidFill>
                <a:latin typeface="Calibri"/>
              </a:rPr>
              <a:t>Net JTD = $0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6" y="2743200"/>
            <a:ext cx="3611880" cy="1828800"/>
          </a:xfrm>
          <a:prstGeom prst="rect">
            <a:avLst/>
          </a:prstGeom>
          <a:solidFill>
            <a:srgbClr val="F4F1EA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66176" y="2743200"/>
            <a:ext cx="3611880" cy="6400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49056" y="2889504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8862E"/>
                </a:solidFill>
                <a:latin typeface="Calibri"/>
              </a:rPr>
              <a:t>PARTIAL HEDGE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3236976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RMBS-2023-1 BBB mezz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IDs 38 long + 39, 69 short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+$22.0m  −$4.8m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9056" y="4114800"/>
            <a:ext cx="3246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49056" y="411480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8862E"/>
                </a:solidFill>
                <a:latin typeface="Calibri"/>
              </a:rPr>
              <a:t>Net JTD = $17.2m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892040"/>
            <a:ext cx="11057839" cy="713232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" y="4892040"/>
            <a:ext cx="82296" cy="71323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4892040"/>
            <a:ext cx="1060063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Netting recognises perfect long/short hedges at 100% — two senior pairs net to zero capital here. Cross-tranche hedges within a bucket get only partial credit, later, through the HBR. The book collapses from 24 positions to 19 netted tranches.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MAR22.28-29 per-tranche offsetting; engine netting invariant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sec_engine.py::step_9b_net_jtd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drc_sec_phase6_tranche_net.xlsx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HEDGE-BENEFIT RATIO  · 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The hedge-benefit ratio discounts net-short exposures — and reaches 1.0 only when a bucket has no shorts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492240" cy="786384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63040"/>
            <a:ext cx="60350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HBR  =  Σ netJTD(long)  ÷  ( Σ netJTD(long) + Σ |netJTD(short)| 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DB4CC"/>
                </a:solidFill>
                <a:latin typeface="Calibri"/>
              </a:rPr>
              <a:t>MAR22.23 — uses un-weighted net JTD; always between 0 and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6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HBR by bucket</a:t>
            </a:r>
          </a:p>
        </p:txBody>
      </p:sp>
      <p:pic>
        <p:nvPicPr>
          <p:cNvPr id="8" name="Picture 7" descr="h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97480"/>
            <a:ext cx="5486400" cy="28064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24688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2C4B"/>
                </a:solidFill>
                <a:latin typeface="Calibri"/>
              </a:rPr>
              <a:t>WHY HBR FALLS BELOW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825496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752344"/>
            <a:ext cx="49926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No shorts → HBR = 1.0.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RMBS, ABCP and ABS-CreditCard buckets are net-long only. There is nothing to discount, so the full short leg is moot and HBR =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758184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5976" y="3685032"/>
            <a:ext cx="49926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Shorts present → HBR &lt; 1.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CLO falls to 0.62, ABS-Auto to 0.87, CMBS to 0.95. The larger the short leg relative to the longs, the lower the ratio.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4690872"/>
            <a:ext cx="91440" cy="914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5976" y="4617720"/>
            <a:ext cx="49926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It caps the hedge credit.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A short position only offsets longs up to HBR × its weighted JTD. Imperfect, cross-tranche hedges are recognised — but never in full.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The CLO bucket shows the mechanism most clearly: a $14.8m short senior against $24.5m of longs pulls HBR to 0.62, so the short hedges only ~62 cents on the dollar.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MAR22.23 / MAR22.33 hedge-benefit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sec_engine.py::step_10_bucket_hbr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drc_sec_phase7_bucket_hbr.xlsx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RISK WEIGHTS  · 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DRC borrows the banking-book securitisation machinery wholesale — CRE40–45, with one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MAR22.34(1) imports the banking-book risk weights verbatim and makes a single modification: </a:t>
            </a:r>
            <a:r>
              <a:rPr sz="1200" b="1" i="0">
                <a:solidFill>
                  <a:srgbClr val="C2453C"/>
                </a:solidFill>
                <a:latin typeface="Calibri"/>
              </a:rPr>
              <a:t>maturity is fixed at 1 year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. The same six chapters that set capital on the banking book set the trading-book default charge.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240280"/>
            <a:ext cx="3611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240280"/>
            <a:ext cx="868680" cy="1143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35000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CRE40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0720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General provisions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68296"/>
            <a:ext cx="246888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General provisions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6A6A6A"/>
                </a:solidFill>
                <a:latin typeface="Calibri"/>
              </a:rPr>
              <a:t>Pool classification, senior-tranche definition, due-diligence gate, 1250% residual, hierarchy, look-through cap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240280"/>
            <a:ext cx="3611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2240280"/>
            <a:ext cx="868680" cy="114300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235000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CRE41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80720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SEC-
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368296"/>
            <a:ext cx="246888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SEC-SA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6A6A6A"/>
                </a:solidFill>
                <a:latin typeface="Calibri"/>
              </a:rPr>
              <a:t>Standardised SSFA: Kₐ = (1−W)·K_SA + 0.5W, supervisory p, 15% floor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2240280"/>
            <a:ext cx="3611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66176" y="2240280"/>
            <a:ext cx="868680" cy="114300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235000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CRE42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80720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SEC-
ERBA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368296"/>
            <a:ext cx="246888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SEC-ERBA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6A6A6A"/>
                </a:solidFill>
                <a:latin typeface="Calibri"/>
              </a:rPr>
              <a:t>External-ratings table (18 grades × senior/non-senior × 1y/5y); thickness adj.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02736"/>
            <a:ext cx="3611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602736"/>
            <a:ext cx="868680" cy="1143000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712464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CRE43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69664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SEC-
IAA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730752"/>
            <a:ext cx="246888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SEC-IAA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6A6A6A"/>
                </a:solidFill>
                <a:latin typeface="Calibri"/>
              </a:rPr>
              <a:t>Internal assessment of unrated ABCP facilities → ECAI grade → ERBA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2" y="3602736"/>
            <a:ext cx="3611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16552" y="3602736"/>
            <a:ext cx="868680" cy="114300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16552" y="3712464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CRE44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169664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SEC-
IRBA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92" y="3730752"/>
            <a:ext cx="246888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SEC-IRBA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6A6A6A"/>
                </a:solidFill>
                <a:latin typeface="Calibri"/>
              </a:rPr>
              <a:t>Internal-ratings SSFA with K_IRB and the 6-row supervisory p-factor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6" y="3602736"/>
            <a:ext cx="3611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66176" y="3602736"/>
            <a:ext cx="868680" cy="1143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66176" y="3712464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CRE45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4169664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NPL securitisations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3730752"/>
            <a:ext cx="246888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NPL securitisations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6A6A6A"/>
                </a:solidFill>
                <a:latin typeface="Calibri"/>
              </a:rPr>
              <a:t>W ≥ 90% gate, 100% floor, senior 100% concession (NRPPD ≥ 50%)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Because these are banking-book RWA risk weights — not loss rates — they run up to 1250% and must be converted to capital with the 8% factor (next-but-one slide). That single distinction is the most expensive thing to get wrong in DRC.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MAR22.34 importing CRE40–45; risk weights only (not the agg. capital cap)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sec_erba.py / sec_sa.py / sec_irba.py / sec_iaa.py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drc_sec_phase3_riskweight.xlsx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APPROACH SELECTION  · 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The approach is forced by capability and data, not chosen — a strict hierarchy with a 1250% backstop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7498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SEC-IRBA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481328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04288" y="1481328"/>
            <a:ext cx="5029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Bank has IRB models for the pool AND can perform full due diligence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0" i="1">
                <a:solidFill>
                  <a:srgbClr val="6A6A6A"/>
                </a:solidFill>
                <a:latin typeface="Calibri"/>
              </a:rPr>
              <a:t>e.g.  Originator/sponsor deals with K_IRB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1214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D9D4CA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40864"/>
            <a:ext cx="1554480" cy="7498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340864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SEC-ERBA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2340864"/>
            <a:ext cx="5394960" cy="749808"/>
          </a:xfrm>
          <a:prstGeom prst="rect">
            <a:avLst/>
          </a:prstGeom>
          <a:solidFill>
            <a:srgbClr val="F3F2EF"/>
          </a:solidFill>
          <a:ln w="635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04288" y="2340864"/>
            <a:ext cx="5029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IRBA not available, but an eligible external rating exists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0" i="1">
                <a:solidFill>
                  <a:srgbClr val="6A6A6A"/>
                </a:solidFill>
                <a:latin typeface="Calibri"/>
              </a:rPr>
              <a:t>e.g.  Rated investor tranches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9809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D9D4CA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00400"/>
            <a:ext cx="1554480" cy="749808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200400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SEC-IAA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320040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4288" y="3200400"/>
            <a:ext cx="5029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Unrated ABCP credit facility — internal assessment mapped to a rating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0" i="1">
                <a:solidFill>
                  <a:srgbClr val="6A6A6A"/>
                </a:solidFill>
                <a:latin typeface="Calibri"/>
              </a:rPr>
              <a:t>e.g.  ABCP liquidity facility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D9D4CA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059936"/>
            <a:ext cx="1554480" cy="74980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059936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SEC-SA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1408" y="4059936"/>
            <a:ext cx="5394960" cy="749808"/>
          </a:xfrm>
          <a:prstGeom prst="rect">
            <a:avLst/>
          </a:prstGeom>
          <a:solidFill>
            <a:srgbClr val="F3F2EF"/>
          </a:solidFill>
          <a:ln w="635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04288" y="4059936"/>
            <a:ext cx="5029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No IRB, no rating, and it is a tranche (not a facility)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0" i="1">
                <a:solidFill>
                  <a:srgbClr val="6A6A6A"/>
                </a:solidFill>
                <a:latin typeface="Calibri"/>
              </a:rPr>
              <a:t>e.g.  Unrated NPL investor tranche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7000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D9D4CA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919472"/>
            <a:ext cx="1554480" cy="7498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919472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1250%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21408" y="4919472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04288" y="4919472"/>
            <a:ext cx="5029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None of the above apply, or due diligence fails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0" i="1">
                <a:solidFill>
                  <a:srgbClr val="6A6A6A"/>
                </a:solidFill>
                <a:latin typeface="Calibri"/>
              </a:rPr>
              <a:t>e.g.  DD-failed / no-approach residual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37160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7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How the v5 book routes</a:t>
            </a:r>
          </a:p>
        </p:txBody>
      </p:sp>
      <p:pic>
        <p:nvPicPr>
          <p:cNvPr id="30" name="Picture 29" descr="approach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27632"/>
            <a:ext cx="3520440" cy="194680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0" y="4297680"/>
            <a:ext cx="3520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All four live approaches — plus the 1250% residual — are exercised by this single book.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A6A6A"/>
                </a:solidFill>
                <a:latin typeface="Calibri"/>
              </a:rPr>
              <a:t>Single-source reliance on agency ratings is exactly what the post-2008 hierarchy was built to defeat.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CRE40.41–47 hierarchy of approaches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sec_hierarchy.py::route_position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drc_sec_phase2_classify_route.xlsx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THE 8% FACTOR  · 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Forget the 8% Cooke factor and a $27m charge balloons to $342m — larger than the book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6675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securitisation risk weight is an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RWA weight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(it peaks at 1250%), not a loss rate. To turn it into capital you multiply by the 8% minimum-capital ratio: 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286000"/>
            <a:ext cx="6675120" cy="6400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capital  =  RW  ×  8%  ×  net JTD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0896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 ceilings give it away:  </a:t>
            </a:r>
            <a:r>
              <a:rPr sz="1200" b="1" i="0">
                <a:solidFill>
                  <a:srgbClr val="C2453C"/>
                </a:solidFill>
                <a:latin typeface="Calibri"/>
              </a:rPr>
              <a:t>1250% × 8% = 100%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— a full deduction, never more.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703320"/>
          <a:ext cx="66751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Securitisation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Non-securitisation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Risk weight is…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an RWA weight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 loss rate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2453C"/>
                          </a:solidFill>
                          <a:latin typeface="Calibri"/>
                        </a:rPr>
                        <a:t>1250%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E2C4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Apply 8%?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2453C"/>
                          </a:solidFill>
                          <a:latin typeface="Calibri"/>
                        </a:rPr>
                        <a:t>Yes — RW × 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E2C4B"/>
                          </a:solidFill>
                          <a:latin typeface="Calibri"/>
                        </a:rPr>
                        <a:t>No — already capital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“100%” means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8% of exposure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total loss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60920" y="1371600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8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Sec DRC with vs without the 8% factor</a:t>
            </a:r>
          </a:p>
        </p:txBody>
      </p:sp>
      <p:pic>
        <p:nvPicPr>
          <p:cNvPr id="11" name="Picture 10" descr="co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114800" cy="208435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Capital cannot exceed the assets it is held against. A securitisation charge bigger than the book is the unmistakable fingerprint of a dropped 8% — the error is always exactly 12.5×.   Further reading: “Risk Weight or Loss Rate?” note + LinkedIn post.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MAR22.34 (RW = K×12.5, CRE44.24(2)); RBC20 8%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 (rw_factor_to_capital = 0.08)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drc_sec_phase7_bucket_hbr.xlsx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SPECIAL CASE · STC  · 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STC status cuts the senior auto-ABS risk weight by a third — but only if due diligence holds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E2C4B"/>
                </a:solidFill>
                <a:latin typeface="Calibri"/>
              </a:rPr>
              <a:t>Simple, Transparent and Comparable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is a structural quality label — not a credit grade. A qualifying deal earns a modest, bounded capital discount.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1554480" cy="36576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23317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Homogeneous pool, sound underwriting, true sale, no re-securitisation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07208"/>
            <a:ext cx="1554480" cy="36576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8072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Transparent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80720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Clear waterfall, hedged mismatches, full data to investors pre- and post-pricing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82696"/>
            <a:ext cx="1554480" cy="36576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28269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Comparable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328269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Experienced servicer, defined roles, consistent definitions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77639"/>
            <a:ext cx="6035040" cy="91440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977639"/>
            <a:ext cx="82296" cy="9144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2453C"/>
                </a:solidFill>
                <a:latin typeface="Calibri"/>
              </a:rPr>
              <a:t>DUE DILIGENCE IS THE GATEWAY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STC discount — or any modelled approach — may be used only if the required due diligence is performed and evidenced. A failure does not demote the position; it forces 1250% (full deduction).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371600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9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AUTO-2024-1-A senior — STC capital effect</a:t>
            </a:r>
          </a:p>
        </p:txBody>
      </p:sp>
      <p:pic>
        <p:nvPicPr>
          <p:cNvPr id="19" name="Picture 18" descr="s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645920"/>
            <a:ext cx="3977639" cy="265806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315200" y="4526280"/>
            <a:ext cx="4343400" cy="914400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452628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E7D5B"/>
                </a:solidFill>
                <a:latin typeface="Calibri"/>
              </a:rPr>
              <a:t>WORKED EXAMPLE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Senior RW 15% → 10% (ERBA Table 2 → Table 4).  Capital $637k → $425k, a saving of $212k (33%).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7D5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The benefit is deliberately modest — STC rewards transparency, not low risk — and it evaporates the instant due diligence lapses.  Further reading: “STC — Due Diligence as the Gateway” note + LinkedIn post.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CRE42.13 Table 4 (STC ERBA); CRE40.67–95 STC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sec_erba.py::compute_rw (STC table select)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drc_sec_phase3_riskweight.xlsx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SPECIAL CASE · DD FAILURE  · 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A due-diligence failure forces 1250% — a full capital deduction, no fallback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Due diligence gates the use of </a:t>
            </a:r>
            <a:r>
              <a:rPr sz="1200" b="1" i="1">
                <a:solidFill>
                  <a:srgbClr val="0E2C4B"/>
                </a:solidFill>
                <a:latin typeface="Calibri"/>
              </a:rPr>
              <a:t>any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SEC approach (CRE40.31). If the ongoing pool-data feed, structural understanding or risk analysis cannot be evidenced, the position does not drop to SEC-SA — it goes straight to the 1250% residual.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97480"/>
            <a:ext cx="1389888" cy="603504"/>
          </a:xfrm>
          <a:prstGeom prst="round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DD status =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2697480"/>
            <a:ext cx="146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D4C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697480"/>
            <a:ext cx="1389888" cy="603504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269748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Skip SEC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97480"/>
            <a:ext cx="146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D4C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2697480"/>
            <a:ext cx="1389888" cy="603504"/>
          </a:xfrm>
          <a:prstGeom prst="round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269748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RW = 1250%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97480"/>
            <a:ext cx="146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D4C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697480"/>
            <a:ext cx="1389888" cy="603504"/>
          </a:xfrm>
          <a:prstGeom prst="round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269748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×8% = 100% cap.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5760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10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The DD-failed position in v5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3931920"/>
          <a:ext cx="6492240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CMBS-2025-NEW-A (Senior) (ID 71)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Pool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CMBS-2025-NEW — new vintage, pool-data feed not yet operational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DD status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2453C"/>
                          </a:solidFill>
                          <a:latin typeface="Calibri"/>
                        </a:rPr>
                        <a:t>fail (CRE40.33)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Risk weight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2453C"/>
                          </a:solidFill>
                          <a:latin typeface="Calibri"/>
                        </a:rPr>
                        <a:t>1250%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Model MV (net JTD)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$-897k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Capital  = 1250% × 8% × |JTD|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C4B"/>
                          </a:solidFill>
                          <a:latin typeface="Calibri"/>
                        </a:rPr>
                        <a:t>$897k  (= |MV|, full deduction)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360920" y="1828800"/>
            <a:ext cx="4279392" cy="27432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60920" y="1828800"/>
            <a:ext cx="4279392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11680"/>
            <a:ext cx="382219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C2453C"/>
                </a:solidFill>
                <a:latin typeface="Calibri"/>
              </a:rPr>
              <a:t>WHY IT IS BOUNDED, NOT EXPLOSIVE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1250% looks alarming, but after the 8% factor it is exactly a </a:t>
            </a:r>
            <a:r>
              <a:rPr sz="1100" b="1" i="0">
                <a:solidFill>
                  <a:srgbClr val="0E2C4B"/>
                </a:solidFill>
                <a:latin typeface="Calibri"/>
              </a:rPr>
              <a:t>100% deduction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 — capital equal to the position's value, never beyond 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Here the position is a short hedge, so its 1250% leg is discounted by the CMBS bucket HBR (0.95) before it nets against the long CMBS tranches.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1">
                <a:solidFill>
                  <a:srgbClr val="1A1A1A"/>
                </a:solidFill>
                <a:latin typeface="Calibri"/>
              </a:rPr>
              <a:t>The fix is operational, not financial: stand up the pool-data feed and the position re-routes to SEC-ERBA/SA.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CRE40.31–36 due-diligence gate; CRE40.41 1250% residual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sec_dd.py::is_due_diligence_pass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drc_sec_phase2_classify_route.xlsx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SPECIAL CASE · NPL  ·  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A distressed (W = 95%) pool drives punitive weights — the senior concession caps the top tranche at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When ≥ 90% of a pool is non-performing (W ≥ 0.90), CRE45 takes over. A traditional deal whose </a:t>
            </a:r>
            <a:r>
              <a:rPr sz="1300" b="1" i="0">
                <a:solidFill>
                  <a:srgbClr val="0E2C4B"/>
                </a:solidFill>
                <a:latin typeface="Calibri"/>
              </a:rPr>
              <a:t>non-refundable purchase price discount (NRPPD) exceeds 50%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of pool outstanding lets the senior tranche skip the SSFA and take a flat 100% weight.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2C4B"/>
                </a:solidFill>
                <a:latin typeface="Calibri"/>
              </a:rPr>
              <a:t>NRPPD GATE  </a:t>
            </a:r>
            <a:r>
              <a:rPr sz="1150" b="1" i="0">
                <a:solidFill>
                  <a:srgbClr val="2E7D5B"/>
                </a:solidFill>
                <a:latin typeface="Calibri"/>
              </a:rPr>
              <a:t>$220m ÷ $400m = 55%  ≥  50%  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32888"/>
            <a:ext cx="5303520" cy="292608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2532888"/>
            <a:ext cx="2916936" cy="2926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9163" y="2478024"/>
            <a:ext cx="19050" cy="40233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4368" y="284378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C2453C"/>
                </a:solidFill>
                <a:latin typeface="Calibri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8328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11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CC-NPL-2024-1 — same distressed pool, two very different tranches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657600"/>
          <a:ext cx="8915399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Tranche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Seniority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JTD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Capital (RW×8%×JTD)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CC-NPL-2024-1-A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2E7D5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$26.8m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E2C4B"/>
                          </a:solidFill>
                          <a:latin typeface="Calibri"/>
                        </a:rPr>
                        <a:t>$2.1m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Flat 100% concession (skip SSFA)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CC-NPL-2024-1-B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Mezzanine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C2453C"/>
                          </a:solidFill>
                          <a:latin typeface="Calibri"/>
                        </a:rPr>
                        <a:t>459%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$9.0m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C2453C"/>
                          </a:solidFill>
                          <a:latin typeface="Calibri"/>
                        </a:rPr>
                        <a:t>$3.3m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Full SSFA, then 100% floor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9692640" y="2194560"/>
            <a:ext cx="1965960" cy="210312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64008" cy="210312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57232" y="2331720"/>
            <a:ext cx="167335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2453C"/>
                </a:solidFill>
                <a:latin typeface="Calibri"/>
              </a:rPr>
              <a:t>WHY SO HIGH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C2453C"/>
                </a:solidFill>
                <a:latin typeface="Calibri"/>
              </a:rPr>
              <a:t>W = 95%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of the pool is non-performing.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mezz runs SSFA on that distress → 459% RW. The senior is only spared by the concession.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The concession is relief, not a penalty: it caps the senior at $2.1m of capital. The mezzanine, run through the full SSFA on a 95%-delinquent pool, carries $3.3m — the distress shows up where there is no concession.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CRE45.1 (W gate); CRE45.5 (senior concession); CRE45.4 (100% floor)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sec_npl.py::apply_npl_layer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drc_sec_phase3_riskweight.xlsx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AGGREGATION  · 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Every exposure lands in one (asset class × region) bucket; capital sums with no cross-bucket hedging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MAR22.31/32 defines the buckets directly from fields already on the holdings file — </a:t>
            </a:r>
            <a:r>
              <a:rPr sz="1300" b="1" i="0">
                <a:solidFill>
                  <a:srgbClr val="0E2C4B"/>
                </a:solidFill>
                <a:latin typeface="Calibri"/>
              </a:rPr>
              <a:t>Underlying Pool Type × Region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. The v5 book is single-region (North America), so six asset classes give six buckets.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48840"/>
            <a:ext cx="3611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361188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29514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ABS-CreditCard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7919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North America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5351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5 tranches</a:t>
            </a:r>
            <a:r>
              <a:rPr sz="1050" b="0" i="0">
                <a:solidFill>
                  <a:srgbClr val="2E7D5B"/>
                </a:solidFill>
                <a:latin typeface="Calibri"/>
              </a:rPr>
              <a:t>   ·   long-only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2453C"/>
                </a:solidFill>
                <a:latin typeface="Calibri"/>
              </a:rPr>
              <a:t>DRC  $11.8m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148840"/>
            <a:ext cx="3611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2148840"/>
            <a:ext cx="361188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29514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RMBS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7919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North America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5351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3 tranches</a:t>
            </a:r>
            <a:r>
              <a:rPr sz="1050" b="0" i="0">
                <a:solidFill>
                  <a:srgbClr val="2E7D5B"/>
                </a:solidFill>
                <a:latin typeface="Calibri"/>
              </a:rPr>
              <a:t>   ·   long-only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DRC  $11.7m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2148840"/>
            <a:ext cx="3611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66176" y="2148840"/>
            <a:ext cx="361188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229514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ABCP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67919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North America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95351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2 tranches</a:t>
            </a:r>
            <a:r>
              <a:rPr sz="1050" b="0" i="0">
                <a:solidFill>
                  <a:srgbClr val="2E7D5B"/>
                </a:solidFill>
                <a:latin typeface="Calibri"/>
              </a:rPr>
              <a:t>   ·   long-only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DRC  $2.0m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803904"/>
            <a:ext cx="3611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118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CMBS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3425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North America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608576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4 tranches</a:t>
            </a:r>
            <a:r>
              <a:rPr sz="1050" b="0" i="0">
                <a:solidFill>
                  <a:srgbClr val="C2453C"/>
                </a:solidFill>
                <a:latin typeface="Calibri"/>
              </a:rPr>
              <a:t>   ·   1 short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DRC  $1.4m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2" y="3803904"/>
            <a:ext cx="3611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16552" y="3803904"/>
            <a:ext cx="36118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395020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CLO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33425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North America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608576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3 tranches</a:t>
            </a:r>
            <a:r>
              <a:rPr sz="1050" b="0" i="0">
                <a:solidFill>
                  <a:srgbClr val="C2453C"/>
                </a:solidFill>
                <a:latin typeface="Calibri"/>
              </a:rPr>
              <a:t>   ·   1 short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DRC  $377k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6" y="3803904"/>
            <a:ext cx="3611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66176" y="3803904"/>
            <a:ext cx="36118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49056" y="395020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2C4B"/>
                </a:solidFill>
                <a:latin typeface="Calibri"/>
              </a:rPr>
              <a:t>ABS-Auto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433425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North America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4608576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2 tranches</a:t>
            </a:r>
            <a:r>
              <a:rPr sz="1050" b="0" i="0">
                <a:solidFill>
                  <a:srgbClr val="C2453C"/>
                </a:solidFill>
                <a:latin typeface="Calibri"/>
              </a:rPr>
              <a:t>   ·   1 short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DRC  $130k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No cross-bucket diversification is allowed — the portfolio charge is the simple sum of the six bucket numbers (MAR22.35). Hedging only counts inside a bucket, and only through the HBR.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MAR22.31/32 bucket definition (Underlying Pool Type × Region)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sec_engine.py::step_10_bucket_hbr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drc_sec_phase7_bucket_hbr.xlsx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BUCKET CAPITAL  ·  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Bucket DRC = risk-weighted net long − HBR × net short, floored at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57839" cy="6400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DRC</a:t>
            </a:r>
            <a:r>
              <a:rPr sz="900" b="1" i="0">
                <a:solidFill>
                  <a:srgbClr val="9DB4CC"/>
                </a:solidFill>
                <a:latin typeface="Calibri"/>
              </a:rPr>
              <a:t>bucket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  =  max[  Σ (RW × 8% × netJTD)</a:t>
            </a:r>
            <a:r>
              <a:rPr sz="900" b="0" i="0">
                <a:solidFill>
                  <a:srgbClr val="9DB4CC"/>
                </a:solidFill>
                <a:latin typeface="Calibri"/>
              </a:rPr>
              <a:t>long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  −  HBR × Σ (RW × 8% × |netJTD|)</a:t>
            </a:r>
            <a:r>
              <a:rPr sz="900" b="0" i="0">
                <a:solidFill>
                  <a:srgbClr val="9DB4CC"/>
                </a:solidFill>
                <a:latin typeface="Calibri"/>
              </a:rPr>
              <a:t>short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 ,  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028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12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Per-bucket capital build-up ($)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505456"/>
          <a:ext cx="795528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Long capital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Short capital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HBR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Bucket DRC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ABS-CreditCard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$11.80m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A6A6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$11.80m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RMBS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$11.68m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A6A6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$11.68m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ABCP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$2.04m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9D4C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A6A6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$2.04m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CMBS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$2.22m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C2453C"/>
                          </a:solidFill>
                          <a:latin typeface="Calibri"/>
                        </a:rPr>
                        <a:t>$897k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2453C"/>
                          </a:solidFill>
                          <a:latin typeface="Calibri"/>
                        </a:rPr>
                        <a:t>0.955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$1.36m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CLO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$488k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C2453C"/>
                          </a:solidFill>
                          <a:latin typeface="Calibri"/>
                        </a:rPr>
                        <a:t>$178k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2453C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$377k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ABS-Auto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$425k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C2453C"/>
                          </a:solidFill>
                          <a:latin typeface="Calibri"/>
                        </a:rPr>
                        <a:t>$339k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2453C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E2C4B"/>
                          </a:solidFill>
                          <a:latin typeface="Calibri"/>
                        </a:rPr>
                        <a:t>$130k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(MAR22.35)</a:t>
                      </a:r>
                    </a:p>
                  </a:txBody>
                  <a:tcPr marL="54864" marR="54864" marT="9144" marB="9144" anchor="ctr">
                    <a:solidFill>
                      <a:srgbClr val="C245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9144" marB="9144" anchor="ctr">
                    <a:solidFill>
                      <a:srgbClr val="C245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9144" marB="9144" anchor="ctr">
                    <a:solidFill>
                      <a:srgbClr val="C245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9144" marB="9144" anchor="ctr">
                    <a:solidFill>
                      <a:srgbClr val="C245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$27.39m</a:t>
                      </a:r>
                    </a:p>
                  </a:txBody>
                  <a:tcPr marL="54864" marR="54864" marT="9144" marB="9144" anchor="ctr">
                    <a:solidFill>
                      <a:srgbClr val="C245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15400" y="224028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13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Bucket DRC</a:t>
            </a:r>
          </a:p>
        </p:txBody>
      </p:sp>
      <p:pic>
        <p:nvPicPr>
          <p:cNvPr id="10" name="Picture 9" descr="bucket_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578608"/>
            <a:ext cx="2724912" cy="11026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Two credit-card buckets and RMBS account for the bulk of the charge; the netted, HBR-discounted CLO, ABS-Auto and CMBS buckets contribute little. The floor at zero means an over-hedged bucket can never generate negative capital.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MAR22.25 bucket DRC; MAR22.33 HBR; MAR22.34(3) FV 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sec_engine.py::step_10_bucket_hbr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drc_sec_phase7_bucket_hbr.xlsx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RESULT  ·  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Total securitisation Default Risk Charge: $27.4m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EXHIBIT 14</a:t>
            </a:r>
            <a:r>
              <a:rPr sz="850" b="0" i="1">
                <a:solidFill>
                  <a:srgbClr val="6A6A6A"/>
                </a:solidFill>
                <a:latin typeface="Calibri"/>
              </a:rPr>
              <a:t>   Build-up of the securitisation DRC across six buckets ($)</a:t>
            </a:r>
          </a:p>
        </p:txBody>
      </p:sp>
      <p:pic>
        <p:nvPicPr>
          <p:cNvPr id="6" name="Picture 5" descr="total_w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7223760" cy="33648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600200"/>
            <a:ext cx="3886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1600200"/>
            <a:ext cx="388620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18704" y="1764792"/>
            <a:ext cx="35935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C2453C"/>
                </a:solidFill>
                <a:latin typeface="Calibri"/>
              </a:rPr>
              <a:t>$27.4m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8704" y="2240280"/>
            <a:ext cx="35935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Securitisation DRC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4" y="2514600"/>
            <a:ext cx="3593592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6 buckets, MAR22.35 simple sum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926080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0" y="2926080"/>
            <a:ext cx="1874519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18704" y="3090672"/>
            <a:ext cx="158191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355574"/>
                </a:solidFill>
                <a:latin typeface="Calibri"/>
              </a:rPr>
              <a:t>$562k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3566160"/>
            <a:ext cx="158191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Non-sec DRC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3703320"/>
            <a:ext cx="1581911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MAR22.22-32 (context)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926080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84080" y="2926080"/>
            <a:ext cx="1874519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30384" y="3090672"/>
            <a:ext cx="158191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2C4B"/>
                </a:solidFill>
                <a:latin typeface="Calibri"/>
              </a:rPr>
              <a:t>$28.0m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0384" y="3566160"/>
            <a:ext cx="158191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Total DRC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384" y="3703320"/>
            <a:ext cx="1581911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sec + non-sec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160520"/>
            <a:ext cx="3886200" cy="14630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0" y="4160520"/>
            <a:ext cx="82296" cy="146304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4297680"/>
            <a:ext cx="3429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THE NUMBER, AND THE THREE LEVERS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The 8% factor keeps the charge ($27m) far below the naïve $342m.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Maturity is split: default → DRC, migration → CSR-Sec.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Netting + HBR convert a gross </a:t>
            </a:r>
            <a:r>
              <a:rPr sz="1100" b="1" i="0">
                <a:solidFill>
                  <a:srgbClr val="0E2C4B"/>
                </a:solidFill>
                <a:latin typeface="Calibri"/>
              </a:rPr>
              <a:t>$341m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 book into a defensible charge.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Every figure in this deck is computed by the live engine and snapshot to an auditable Excel artefact per phase — any reviewer can re-run any step from the previous phase's output.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MAR22.35 total securitisation DRC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sec_engine.py::run_engine (MAR22.35 sum)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drc_sec_phase8_total.xlsx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2453C"/>
                </a:solidFill>
                <a:latin typeface="Calibri"/>
              </a:rPr>
              <a:t>ENGINEERING  ·  MODULE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7839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2C4B"/>
                </a:solidFill>
                <a:latin typeface="Calibri"/>
              </a:rPr>
              <a:t>A modular engine — one CRE chapter per file, one orchestrated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7839" cy="58521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26464"/>
            <a:ext cx="41148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drc_main.py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9DB4CC"/>
                </a:solidFill>
                <a:latin typeface="Calibri"/>
              </a:rPr>
              <a:t>unified entry — runs sec + non-sec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1426464"/>
            <a:ext cx="411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2453C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48" y="1426464"/>
            <a:ext cx="625723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sec_engine.py</a:t>
            </a:r>
            <a:r>
              <a:rPr sz="900" b="0" i="0">
                <a:solidFill>
                  <a:srgbClr val="CFD8E2"/>
                </a:solidFill>
                <a:latin typeface="Calibri"/>
              </a:rPr>
              <a:t>   — 10-step chain  ·  enforces the per-tranche netting invariant  ·  applies bucket HBR (MAR22.33)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86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96896"/>
            <a:ext cx="1828800" cy="84124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596896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679192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Portfolio holdings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5351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issuer, A/D, pool, seniority, rating, maturity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29584"/>
            <a:ext cx="1828800" cy="84124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529584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361188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Sensitivities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886200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Portfolio_MV_Decomposed — model-priced signed MV = JTD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462272"/>
            <a:ext cx="1828800" cy="84124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462272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4544568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FRTB_Sec_Config.xlsx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81888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RW tables, floors, Deal_Master, capabilities, permissions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15184" y="2286000"/>
            <a:ext cx="2194560" cy="3108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15184" y="22860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INGEST &amp; ROUTE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15184" y="2688336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615184" y="2688336"/>
            <a:ext cx="54864" cy="6400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52344" y="2743200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sec_loader.py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52344" y="2990088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join holdings + config; derive tranche_key, is_senior, M=1 overlay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15184" y="3401568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15184" y="3401568"/>
            <a:ext cx="54864" cy="6400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52344" y="345643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sec_classifier.py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52344" y="3703320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CRE40.15–18 pool class + senior-from-waterfall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5184" y="4114800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615184" y="4114800"/>
            <a:ext cx="54864" cy="6400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52344" y="416966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sec_hierarchy.py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4416552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CRE40.41–47 route to the forced approach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15184" y="4828032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615184" y="4828032"/>
            <a:ext cx="54864" cy="64008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52344" y="4882896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sec_dd.py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2344" y="5129784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CRE40.31–36 due-diligence gate → 1250%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2286000"/>
            <a:ext cx="2194560" cy="3108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47488" y="22860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RISK-WEIGHT ENGINES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7488" y="2688336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47488" y="2688336"/>
            <a:ext cx="54864" cy="64008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84648" y="2743200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sec_erba.py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4648" y="2990088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CRE42 ratings tables 1–4, interpolation, thickness adj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47488" y="3401568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47488" y="3401568"/>
            <a:ext cx="54864" cy="64008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84648" y="345643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sec_irba.py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4648" y="3703320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CRE44 SSFA + supervisory p-formula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47488" y="4114800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47488" y="4114800"/>
            <a:ext cx="54864" cy="64008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84648" y="416966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sec_iaa.py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4648" y="4416552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CRE43 internal grade → ECAI → ERBA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47488" y="4828032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47488" y="4828032"/>
            <a:ext cx="54864" cy="64008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84648" y="4882896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sec_sa.py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4648" y="5129784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CRE41 SSFA on Ka; resec p = 1.5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286000"/>
            <a:ext cx="2194560" cy="310896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79792" y="22860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OVERLAYS &amp; CAPS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9792" y="2688336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479792" y="2688336"/>
            <a:ext cx="54864" cy="640080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616952" y="2743200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sec_npl.py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16952" y="2990088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CRE45 W-gate, 100% floor, senior concession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79792" y="3401568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479792" y="3401568"/>
            <a:ext cx="54864" cy="640080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616952" y="345643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sec_caps.py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16952" y="3703320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CRE40.50–51 look-through cap + floors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4114800"/>
            <a:ext cx="21945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479792" y="4114800"/>
            <a:ext cx="54864" cy="640080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616952" y="416966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sec_crm.py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16952" y="4416552"/>
            <a:ext cx="19933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CRE40.56–65 bought-protection decomposition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57232" y="2286000"/>
            <a:ext cx="1767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2453C"/>
                </a:solidFill>
                <a:latin typeface="Calibri"/>
              </a:rPr>
              <a:t>OUTPUTS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57232" y="2596896"/>
            <a:ext cx="1767535" cy="841248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857232" y="2596896"/>
            <a:ext cx="1767535" cy="457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94392" y="2679192"/>
            <a:ext cx="1511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phase_snapshot.py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94392" y="2953512"/>
            <a:ext cx="15115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shared 5-sheet writer: manifest · input · output · audit · recon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57232" y="3529584"/>
            <a:ext cx="1767535" cy="841248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857232" y="3529584"/>
            <a:ext cx="1767535" cy="457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994392" y="3611880"/>
            <a:ext cx="1511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8 phase Excels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94392" y="3886200"/>
            <a:ext cx="15115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one per step — re-runnable, audit-traceable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57232" y="4462272"/>
            <a:ext cx="1767535" cy="841248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857232" y="4462272"/>
            <a:ext cx="1767535" cy="457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994392" y="4544568"/>
            <a:ext cx="1511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drc_total_capital.xlsx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94392" y="4818888"/>
            <a:ext cx="15115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A6A"/>
                </a:solidFill>
                <a:latin typeface="Calibri"/>
              </a:rPr>
              <a:t>combined sec + non-sec summary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32304" y="35661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2453C"/>
                </a:solidFill>
                <a:latin typeface="Calibri"/>
              </a:rPr>
              <a:t>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74352" y="35661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2453C"/>
                </a:solidFill>
                <a:latin typeface="Calibri"/>
              </a:rPr>
              <a:t>▸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4672" y="5623560"/>
            <a:ext cx="10600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One regulatory concern per file (one CRE chapter =&gt; one module), the orchestrator owns sequence and the netting invariant, and every constant lives in config — so a Basel update is a data edit, not a code change. Each step also self-documents via a 5-sheet phase Excel.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drc_securitisation/ — 12 focused modules + shared phase_snapshot.py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27448" y="6492240"/>
            <a:ext cx="63459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Engine: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sec_engine.py (10-step orchestration)</a:t>
            </a:r>
            <a:r>
              <a:rPr sz="850" b="0" i="0">
                <a:solidFill>
                  <a:srgbClr val="D9D4CA"/>
                </a:solidFill>
                <a:latin typeface="Calibri"/>
              </a:rPr>
              <a:t>   ·   </a:t>
            </a:r>
            <a:r>
              <a:rPr sz="850" b="1" i="0">
                <a:solidFill>
                  <a:srgbClr val="355574"/>
                </a:solidFill>
                <a:latin typeface="Calibri"/>
              </a:rPr>
              <a:t>Artefact: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8 phase snapshots + drc_total_capital.xlsx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4620</Words>
  <Application>Microsoft Office PowerPoint</Application>
  <PresentationFormat>Widescreen</PresentationFormat>
  <Paragraphs>805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2026-06-06T10:55:34Z</dcterms:modified>
  <cp:category/>
</cp:coreProperties>
</file>